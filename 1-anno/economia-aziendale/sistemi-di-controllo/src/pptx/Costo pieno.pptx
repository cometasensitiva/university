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781"/>
  </p:normalViewPr>
  <p:slideViewPr>
    <p:cSldViewPr snapToGrid="0">
      <p:cViewPr>
        <p:scale>
          <a:sx n="93" d="100"/>
          <a:sy n="93" d="100"/>
        </p:scale>
        <p:origin x="9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A2FEEB-953A-E94F-F5F5-AB9334563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A4B1FAB-4A4A-8332-A7D3-28C89B71B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F26FC1-B6F9-CA00-324D-E85D0EF91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5041-05D8-AD4D-9E3A-7F1EE4012F98}" type="datetimeFigureOut">
              <a:rPr lang="it-IT" smtClean="0"/>
              <a:t>31/12/23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2AF1223-1D8F-DE25-D7F7-D74B4BE80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3F0024-4812-29C4-A75C-ACD058E2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14B64-2C37-2E42-A051-9B08E922BC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051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8AB144-5142-EAE8-4E35-ECC99843C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F9A923-605E-7B0E-5131-F0B90EE6D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4D7C2A-661A-5C98-2103-098C88305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5041-05D8-AD4D-9E3A-7F1EE4012F98}" type="datetimeFigureOut">
              <a:rPr lang="it-IT" smtClean="0"/>
              <a:t>31/12/23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9F4C4B-F722-A872-46C5-6D166F489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0136EB7-CCBD-CE1F-FBF6-801423223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14B64-2C37-2E42-A051-9B08E922BC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184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F11053-CB61-2221-DDE4-6918264DD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F8376E-4593-59AC-8B35-B04F3C224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66DF18-D86D-08D4-E2A8-CAC726B40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5041-05D8-AD4D-9E3A-7F1EE4012F98}" type="datetimeFigureOut">
              <a:rPr lang="it-IT" smtClean="0"/>
              <a:t>31/12/23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D94D8C-5462-B643-F525-97377BDFD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0AC3566-5961-3A56-D0D5-31B7CC1D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14B64-2C37-2E42-A051-9B08E922BC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57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A5687A-C297-EFAD-B200-A0959B927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53530A-634F-C8C3-6146-62F71C141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6829BD-9DBB-EEE1-0311-CA8744A96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3887D7D-6DCC-5779-4F2D-B0738304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5041-05D8-AD4D-9E3A-7F1EE4012F98}" type="datetimeFigureOut">
              <a:rPr lang="it-IT" smtClean="0"/>
              <a:t>31/12/23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6EADF1C-60DB-942A-C3FD-746AE0E0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DFC9DC1-5908-18D6-A711-B46378D53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14B64-2C37-2E42-A051-9B08E922BC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310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4AE108-0C22-BF7C-F4FF-48535F92D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E9F0E3D-16E6-5C05-C53E-51266D0B7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19300AA-240D-305D-AB92-E590B8835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F4F907C-14CE-F11F-1BBF-F2E6882B72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3F8A072-25B1-3F3C-ED6B-C2BFF9E21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7916BC1-EE20-BD56-6A8F-85ADD6D10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5041-05D8-AD4D-9E3A-7F1EE4012F98}" type="datetimeFigureOut">
              <a:rPr lang="it-IT" smtClean="0"/>
              <a:t>31/12/23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54CF269-B6CE-CB7F-DB33-41A6F960B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5DF1383-5340-6720-4945-B828778A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14B64-2C37-2E42-A051-9B08E922BC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0176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FDCC81-CC15-2E27-7F1D-B868DBD0F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BC043F2-23CC-F0E1-7460-6702C23B1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5041-05D8-AD4D-9E3A-7F1EE4012F98}" type="datetimeFigureOut">
              <a:rPr lang="it-IT" smtClean="0"/>
              <a:t>31/12/23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C1DEB04-327B-8ABB-89DB-72414A670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02685F2-8DA7-6942-917B-24105E366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14B64-2C37-2E42-A051-9B08E922BC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0490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B5DF0-B41C-F440-D3B3-E112ABBDD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5041-05D8-AD4D-9E3A-7F1EE4012F98}" type="datetimeFigureOut">
              <a:rPr lang="it-IT" smtClean="0"/>
              <a:t>31/12/23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6495432-E2CA-0770-D3F7-2869DA2A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C7CFD1-9BFC-5A42-8884-A79E89B0E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14B64-2C37-2E42-A051-9B08E922BC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0409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F663D3-E5D5-0D86-AE42-BD754C5BD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C9F85E-83FC-467B-3913-4E24C6AA8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5396492-34B8-AF8C-8AC9-567A05357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939938E-3FC1-7276-BEDD-16DC7BB0F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5041-05D8-AD4D-9E3A-7F1EE4012F98}" type="datetimeFigureOut">
              <a:rPr lang="it-IT" smtClean="0"/>
              <a:t>31/12/23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123B0B0-0D76-A4E5-695E-212CB2490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B7EA89A-A620-45AF-02C2-B25969D35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14B64-2C37-2E42-A051-9B08E922BC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9309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BA05D3-0E69-2642-9B48-4FA6483C2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2AFFD99-B4FA-8472-FFDA-E31FFBA8E6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820612E-DAEE-3C07-CE50-240AE7DFA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F31F2F1-B735-4E3B-5CB5-2A225E463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5041-05D8-AD4D-9E3A-7F1EE4012F98}" type="datetimeFigureOut">
              <a:rPr lang="it-IT" smtClean="0"/>
              <a:t>31/12/23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BB1CE14-4F7D-0846-2EFC-25C720F1C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49DBC3F-56DA-3462-29ED-FDA5DD3A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14B64-2C37-2E42-A051-9B08E922BC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5141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534AA6-28BD-90E8-316A-76FFB7CF3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2AEC9F1-3A30-87DB-1DC5-F6A06E47E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8EB30A6-3F47-1C2F-9508-642873B79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5041-05D8-AD4D-9E3A-7F1EE4012F98}" type="datetimeFigureOut">
              <a:rPr lang="it-IT" smtClean="0"/>
              <a:t>31/12/23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A05E3D-6FB3-D91D-0733-99C2BA6F5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FBCA31-9B33-5231-9BEA-F0262128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14B64-2C37-2E42-A051-9B08E922BC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8058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2073934-78CB-E1E0-D0C3-14B4CCB8F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91180D9-16F2-51DB-1E10-38F76B7F4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CDFF3F-20C4-D442-FB9C-6891A9F5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5041-05D8-AD4D-9E3A-7F1EE4012F98}" type="datetimeFigureOut">
              <a:rPr lang="it-IT" smtClean="0"/>
              <a:t>31/12/23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22BEEB9-06C2-9758-A543-F9FF4C16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B6D5084-E48B-D582-5044-98337F81C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14B64-2C37-2E42-A051-9B08E922BC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288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F427824-56DE-F27E-5556-7A3E22C1C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58A0850-E77A-2335-A0D6-54F0B9294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4A05A5C-DA9F-DDD0-9E58-19E3610302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85041-05D8-AD4D-9E3A-7F1EE4012F98}" type="datetimeFigureOut">
              <a:rPr lang="it-IT" smtClean="0"/>
              <a:t>31/12/23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5A8B15-A4C9-8418-C03C-C3DFFA1B1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078549-7782-9126-53F3-6EF25B957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14B64-2C37-2E42-A051-9B08E922BC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1740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54">
            <a:extLst>
              <a:ext uri="{FF2B5EF4-FFF2-40B4-BE49-F238E27FC236}">
                <a16:creationId xmlns:a16="http://schemas.microsoft.com/office/drawing/2014/main" id="{47F7DB63-8C54-DFCB-8558-5DAE2A2C3692}"/>
              </a:ext>
            </a:extLst>
          </p:cNvPr>
          <p:cNvGrpSpPr>
            <a:grpSpLocks/>
          </p:cNvGrpSpPr>
          <p:nvPr/>
        </p:nvGrpSpPr>
        <p:grpSpPr bwMode="auto">
          <a:xfrm>
            <a:off x="1595437" y="1257300"/>
            <a:ext cx="2171700" cy="2751138"/>
            <a:chOff x="312" y="918"/>
            <a:chExt cx="1368" cy="1733"/>
          </a:xfrm>
        </p:grpSpPr>
        <p:sp>
          <p:nvSpPr>
            <p:cNvPr id="33" name="Text Box 4">
              <a:extLst>
                <a:ext uri="{FF2B5EF4-FFF2-40B4-BE49-F238E27FC236}">
                  <a16:creationId xmlns:a16="http://schemas.microsoft.com/office/drawing/2014/main" id="{0EF8577C-DFC8-41F2-E797-310CC0B155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" y="1582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it-IT" sz="2400" b="0" dirty="0">
                  <a:solidFill>
                    <a:schemeClr val="bg2"/>
                  </a:solidFill>
                </a:rPr>
                <a:t>+</a:t>
              </a:r>
            </a:p>
          </p:txBody>
        </p:sp>
        <p:sp>
          <p:nvSpPr>
            <p:cNvPr id="34" name="Rectangle 6">
              <a:extLst>
                <a:ext uri="{FF2B5EF4-FFF2-40B4-BE49-F238E27FC236}">
                  <a16:creationId xmlns:a16="http://schemas.microsoft.com/office/drawing/2014/main" id="{6558BC4B-0B73-0014-C9A8-F170B0743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948"/>
              <a:ext cx="528" cy="38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 dirty="0"/>
            </a:p>
          </p:txBody>
        </p:sp>
        <p:sp>
          <p:nvSpPr>
            <p:cNvPr id="35" name="Text Box 7">
              <a:extLst>
                <a:ext uri="{FF2B5EF4-FFF2-40B4-BE49-F238E27FC236}">
                  <a16:creationId xmlns:a16="http://schemas.microsoft.com/office/drawing/2014/main" id="{4526F0B3-6FE7-7583-C1CC-F5CC9C52A0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918"/>
              <a:ext cx="81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it-IT" sz="1600" b="0" dirty="0" err="1">
                  <a:solidFill>
                    <a:srgbClr val="0070C0"/>
                  </a:solidFill>
                </a:rPr>
                <a:t>Manodopera</a:t>
              </a:r>
              <a:endParaRPr lang="en-US" altLang="it-IT" sz="1600" b="0" dirty="0">
                <a:solidFill>
                  <a:srgbClr val="0070C0"/>
                </a:solidFill>
              </a:endParaRPr>
            </a:p>
            <a:p>
              <a:pPr algn="l"/>
              <a:r>
                <a:rPr lang="en-US" altLang="it-IT" sz="1600" b="0" dirty="0" err="1">
                  <a:solidFill>
                    <a:srgbClr val="0070C0"/>
                  </a:solidFill>
                </a:rPr>
                <a:t>diretta</a:t>
              </a:r>
              <a:endParaRPr lang="en-US" altLang="it-IT" sz="1600" b="0" dirty="0">
                <a:solidFill>
                  <a:srgbClr val="0070C0"/>
                </a:solidFill>
              </a:endParaRPr>
            </a:p>
          </p:txBody>
        </p:sp>
        <p:sp>
          <p:nvSpPr>
            <p:cNvPr id="36" name="Rectangle 10" descr="Light vertical">
              <a:extLst>
                <a:ext uri="{FF2B5EF4-FFF2-40B4-BE49-F238E27FC236}">
                  <a16:creationId xmlns:a16="http://schemas.microsoft.com/office/drawing/2014/main" id="{37D3400E-D1B1-A6A8-3F25-861160DC1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" y="2118"/>
              <a:ext cx="528" cy="384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 dirty="0"/>
            </a:p>
          </p:txBody>
        </p:sp>
        <p:sp>
          <p:nvSpPr>
            <p:cNvPr id="37" name="Text Box 11">
              <a:extLst>
                <a:ext uri="{FF2B5EF4-FFF2-40B4-BE49-F238E27FC236}">
                  <a16:creationId xmlns:a16="http://schemas.microsoft.com/office/drawing/2014/main" id="{93AB998A-AF38-2005-3FAF-B5D4B9B9E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0" y="1972"/>
              <a:ext cx="829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it-IT" sz="1600" b="0" dirty="0">
                  <a:solidFill>
                    <a:srgbClr val="0070C0"/>
                  </a:solidFill>
                </a:rPr>
                <a:t> </a:t>
              </a:r>
              <a:r>
                <a:rPr lang="en-US" altLang="it-IT" sz="1600" b="0" dirty="0" err="1">
                  <a:solidFill>
                    <a:srgbClr val="0070C0"/>
                  </a:solidFill>
                </a:rPr>
                <a:t>Costi</a:t>
              </a:r>
              <a:endParaRPr lang="en-US" altLang="it-IT" sz="1600" b="0" dirty="0">
                <a:solidFill>
                  <a:srgbClr val="0070C0"/>
                </a:solidFill>
              </a:endParaRPr>
            </a:p>
            <a:p>
              <a:pPr algn="l"/>
              <a:r>
                <a:rPr lang="en-US" altLang="it-IT" sz="1600" b="0" dirty="0">
                  <a:solidFill>
                    <a:srgbClr val="0070C0"/>
                  </a:solidFill>
                </a:rPr>
                <a:t> </a:t>
              </a:r>
              <a:r>
                <a:rPr lang="en-US" altLang="it-IT" sz="1600" b="0" dirty="0" err="1">
                  <a:solidFill>
                    <a:srgbClr val="0070C0"/>
                  </a:solidFill>
                </a:rPr>
                <a:t>generali</a:t>
              </a:r>
              <a:r>
                <a:rPr lang="en-US" altLang="it-IT" sz="1600" b="0" dirty="0">
                  <a:solidFill>
                    <a:srgbClr val="0070C0"/>
                  </a:solidFill>
                </a:rPr>
                <a:t> </a:t>
              </a:r>
            </a:p>
            <a:p>
              <a:pPr algn="l"/>
              <a:r>
                <a:rPr lang="en-US" altLang="it-IT" sz="1600" b="0" dirty="0">
                  <a:solidFill>
                    <a:srgbClr val="0070C0"/>
                  </a:solidFill>
                </a:rPr>
                <a:t>(</a:t>
              </a:r>
              <a:r>
                <a:rPr lang="en-US" altLang="it-IT" sz="1600" b="0" dirty="0" err="1">
                  <a:solidFill>
                    <a:srgbClr val="0070C0"/>
                  </a:solidFill>
                </a:rPr>
                <a:t>indiretti</a:t>
              </a:r>
              <a:r>
                <a:rPr lang="en-US" altLang="it-IT" sz="1600" b="0" dirty="0">
                  <a:solidFill>
                    <a:srgbClr val="0070C0"/>
                  </a:solidFill>
                </a:rPr>
                <a:t>)</a:t>
              </a:r>
            </a:p>
            <a:p>
              <a:pPr algn="l"/>
              <a:r>
                <a:rPr lang="en-US" altLang="it-IT" sz="1600" b="0" dirty="0">
                  <a:solidFill>
                    <a:srgbClr val="0070C0"/>
                  </a:solidFill>
                </a:rPr>
                <a:t>di </a:t>
              </a:r>
              <a:r>
                <a:rPr lang="en-US" altLang="it-IT" sz="1600" b="0" dirty="0" err="1">
                  <a:solidFill>
                    <a:srgbClr val="0070C0"/>
                  </a:solidFill>
                </a:rPr>
                <a:t>produzione</a:t>
              </a:r>
              <a:endParaRPr lang="en-US" altLang="it-IT" sz="1600" b="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38" name="Group 55">
            <a:extLst>
              <a:ext uri="{FF2B5EF4-FFF2-40B4-BE49-F238E27FC236}">
                <a16:creationId xmlns:a16="http://schemas.microsoft.com/office/drawing/2014/main" id="{C0A8F153-625F-A464-4F8C-3EBA4C822EEB}"/>
              </a:ext>
            </a:extLst>
          </p:cNvPr>
          <p:cNvGrpSpPr>
            <a:grpSpLocks/>
          </p:cNvGrpSpPr>
          <p:nvPr/>
        </p:nvGrpSpPr>
        <p:grpSpPr bwMode="auto">
          <a:xfrm>
            <a:off x="2408237" y="1333500"/>
            <a:ext cx="3721100" cy="3048000"/>
            <a:chOff x="824" y="966"/>
            <a:chExt cx="2344" cy="1920"/>
          </a:xfrm>
        </p:grpSpPr>
        <p:sp>
          <p:nvSpPr>
            <p:cNvPr id="39" name="AutoShape 9">
              <a:extLst>
                <a:ext uri="{FF2B5EF4-FFF2-40B4-BE49-F238E27FC236}">
                  <a16:creationId xmlns:a16="http://schemas.microsoft.com/office/drawing/2014/main" id="{055BCAAA-E860-1812-E433-4F5C9D026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" y="1342"/>
              <a:ext cx="144" cy="768"/>
            </a:xfrm>
            <a:prstGeom prst="rightBrace">
              <a:avLst>
                <a:gd name="adj1" fmla="val 44444"/>
                <a:gd name="adj2" fmla="val 50000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 dirty="0">
                <a:solidFill>
                  <a:schemeClr val="bg2"/>
                </a:solidFill>
              </a:endParaRPr>
            </a:p>
          </p:txBody>
        </p:sp>
        <p:sp>
          <p:nvSpPr>
            <p:cNvPr id="40" name="Rectangle 13">
              <a:extLst>
                <a:ext uri="{FF2B5EF4-FFF2-40B4-BE49-F238E27FC236}">
                  <a16:creationId xmlns:a16="http://schemas.microsoft.com/office/drawing/2014/main" id="{4B6D99C4-1B81-22F8-B5E8-019941010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502"/>
              <a:ext cx="528" cy="38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 dirty="0"/>
            </a:p>
          </p:txBody>
        </p:sp>
        <p:sp>
          <p:nvSpPr>
            <p:cNvPr id="41" name="Text Box 15">
              <a:extLst>
                <a:ext uri="{FF2B5EF4-FFF2-40B4-BE49-F238E27FC236}">
                  <a16:creationId xmlns:a16="http://schemas.microsoft.com/office/drawing/2014/main" id="{99C73C34-874A-311A-30CB-9FF3152A81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974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it-IT" sz="2400" b="0" dirty="0">
                  <a:solidFill>
                    <a:schemeClr val="bg2"/>
                  </a:solidFill>
                </a:rPr>
                <a:t>+</a:t>
              </a:r>
            </a:p>
          </p:txBody>
        </p:sp>
        <p:sp>
          <p:nvSpPr>
            <p:cNvPr id="42" name="Text Box 16">
              <a:extLst>
                <a:ext uri="{FF2B5EF4-FFF2-40B4-BE49-F238E27FC236}">
                  <a16:creationId xmlns:a16="http://schemas.microsoft.com/office/drawing/2014/main" id="{B6AB36F3-5869-3698-56DB-099A6E8DF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454"/>
              <a:ext cx="67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it-IT" sz="1600" b="0" dirty="0" err="1">
                  <a:solidFill>
                    <a:srgbClr val="0070C0"/>
                  </a:solidFill>
                </a:rPr>
                <a:t>Materiali</a:t>
              </a:r>
              <a:endParaRPr lang="en-US" altLang="it-IT" sz="1600" b="0" dirty="0">
                <a:solidFill>
                  <a:srgbClr val="0070C0"/>
                </a:solidFill>
              </a:endParaRPr>
            </a:p>
            <a:p>
              <a:pPr algn="l"/>
              <a:r>
                <a:rPr lang="en-US" altLang="it-IT" sz="1600" b="0" dirty="0" err="1">
                  <a:solidFill>
                    <a:srgbClr val="0070C0"/>
                  </a:solidFill>
                </a:rPr>
                <a:t>diretti</a:t>
              </a:r>
              <a:endParaRPr lang="en-US" altLang="it-IT" sz="1600" b="0" dirty="0">
                <a:solidFill>
                  <a:srgbClr val="0070C0"/>
                </a:solidFill>
              </a:endParaRPr>
            </a:p>
          </p:txBody>
        </p:sp>
        <p:sp>
          <p:nvSpPr>
            <p:cNvPr id="43" name="Rectangle 18">
              <a:extLst>
                <a:ext uri="{FF2B5EF4-FFF2-40B4-BE49-F238E27FC236}">
                  <a16:creationId xmlns:a16="http://schemas.microsoft.com/office/drawing/2014/main" id="{8F3111D2-BF32-F89B-B110-93A2083F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966"/>
              <a:ext cx="528" cy="38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 dirty="0"/>
            </a:p>
          </p:txBody>
        </p:sp>
        <p:sp>
          <p:nvSpPr>
            <p:cNvPr id="44" name="Rectangle 19" descr="Light vertical">
              <a:extLst>
                <a:ext uri="{FF2B5EF4-FFF2-40B4-BE49-F238E27FC236}">
                  <a16:creationId xmlns:a16="http://schemas.microsoft.com/office/drawing/2014/main" id="{DBFAB774-FDBA-E197-206D-BC0DE04FF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350"/>
              <a:ext cx="528" cy="384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 dirty="0"/>
            </a:p>
          </p:txBody>
        </p:sp>
        <p:sp>
          <p:nvSpPr>
            <p:cNvPr id="45" name="Text Box 20">
              <a:extLst>
                <a:ext uri="{FF2B5EF4-FFF2-40B4-BE49-F238E27FC236}">
                  <a16:creationId xmlns:a16="http://schemas.microsoft.com/office/drawing/2014/main" id="{C26A9F59-3185-5FD3-904B-44CE29B714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590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it-IT" sz="2400" b="0" dirty="0">
                  <a:solidFill>
                    <a:schemeClr val="bg2"/>
                  </a:solidFill>
                </a:rPr>
                <a:t>=</a:t>
              </a:r>
            </a:p>
          </p:txBody>
        </p:sp>
        <p:sp>
          <p:nvSpPr>
            <p:cNvPr id="46" name="Text Box 21">
              <a:extLst>
                <a:ext uri="{FF2B5EF4-FFF2-40B4-BE49-F238E27FC236}">
                  <a16:creationId xmlns:a16="http://schemas.microsoft.com/office/drawing/2014/main" id="{BC196E41-7C15-E9C1-205C-6136B2C1DE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110"/>
              <a:ext cx="96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it-IT" sz="1600" b="0" dirty="0" err="1">
                  <a:solidFill>
                    <a:srgbClr val="0070C0"/>
                  </a:solidFill>
                </a:rPr>
                <a:t>Costi</a:t>
              </a:r>
              <a:r>
                <a:rPr lang="en-US" altLang="it-IT" sz="1600" b="0" dirty="0">
                  <a:solidFill>
                    <a:srgbClr val="0070C0"/>
                  </a:solidFill>
                </a:rPr>
                <a:t> di</a:t>
              </a:r>
            </a:p>
            <a:p>
              <a:pPr algn="l"/>
              <a:r>
                <a:rPr lang="en-US" altLang="it-IT" sz="1600" b="0" dirty="0" err="1">
                  <a:solidFill>
                    <a:srgbClr val="0070C0"/>
                  </a:solidFill>
                </a:rPr>
                <a:t>trasformazione</a:t>
              </a:r>
              <a:endParaRPr lang="en-US" altLang="it-IT" sz="1600" b="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47" name="Group 57">
            <a:extLst>
              <a:ext uri="{FF2B5EF4-FFF2-40B4-BE49-F238E27FC236}">
                <a16:creationId xmlns:a16="http://schemas.microsoft.com/office/drawing/2014/main" id="{6145CC2B-747A-F586-D122-74CB8458E870}"/>
              </a:ext>
            </a:extLst>
          </p:cNvPr>
          <p:cNvGrpSpPr>
            <a:grpSpLocks/>
          </p:cNvGrpSpPr>
          <p:nvPr/>
        </p:nvGrpSpPr>
        <p:grpSpPr bwMode="auto">
          <a:xfrm>
            <a:off x="6826250" y="1333500"/>
            <a:ext cx="3417887" cy="4884738"/>
            <a:chOff x="3607" y="966"/>
            <a:chExt cx="2153" cy="3077"/>
          </a:xfrm>
        </p:grpSpPr>
        <p:sp>
          <p:nvSpPr>
            <p:cNvPr id="48" name="Rectangle 39">
              <a:extLst>
                <a:ext uri="{FF2B5EF4-FFF2-40B4-BE49-F238E27FC236}">
                  <a16:creationId xmlns:a16="http://schemas.microsoft.com/office/drawing/2014/main" id="{17464756-F07F-49B8-6E5D-F01E5667F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966"/>
              <a:ext cx="536" cy="38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 dirty="0"/>
            </a:p>
          </p:txBody>
        </p:sp>
        <p:sp>
          <p:nvSpPr>
            <p:cNvPr id="49" name="Rectangle 40" descr="Light vertical">
              <a:extLst>
                <a:ext uri="{FF2B5EF4-FFF2-40B4-BE49-F238E27FC236}">
                  <a16:creationId xmlns:a16="http://schemas.microsoft.com/office/drawing/2014/main" id="{9C840CA3-B692-4111-4ED9-8F6E9E74A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350"/>
              <a:ext cx="529" cy="384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/>
            </a:p>
          </p:txBody>
        </p:sp>
        <p:sp>
          <p:nvSpPr>
            <p:cNvPr id="50" name="Rectangle 41">
              <a:extLst>
                <a:ext uri="{FF2B5EF4-FFF2-40B4-BE49-F238E27FC236}">
                  <a16:creationId xmlns:a16="http://schemas.microsoft.com/office/drawing/2014/main" id="{B2303C33-23A2-215E-07D5-3010F4AE4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734"/>
              <a:ext cx="528" cy="38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 dirty="0"/>
            </a:p>
          </p:txBody>
        </p:sp>
        <p:sp>
          <p:nvSpPr>
            <p:cNvPr id="51" name="Rectangle 42">
              <a:extLst>
                <a:ext uri="{FF2B5EF4-FFF2-40B4-BE49-F238E27FC236}">
                  <a16:creationId xmlns:a16="http://schemas.microsoft.com/office/drawing/2014/main" id="{2EF38B0B-70DC-274C-A6B2-8E5D50E27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118"/>
              <a:ext cx="528" cy="384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 dirty="0"/>
            </a:p>
          </p:txBody>
        </p:sp>
        <p:sp>
          <p:nvSpPr>
            <p:cNvPr id="52" name="Rectangle 43">
              <a:extLst>
                <a:ext uri="{FF2B5EF4-FFF2-40B4-BE49-F238E27FC236}">
                  <a16:creationId xmlns:a16="http://schemas.microsoft.com/office/drawing/2014/main" id="{36751740-3F7F-B804-FCEA-98B69C035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502"/>
              <a:ext cx="528" cy="384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/>
            </a:p>
          </p:txBody>
        </p:sp>
        <p:sp>
          <p:nvSpPr>
            <p:cNvPr id="53" name="Text Box 44">
              <a:extLst>
                <a:ext uri="{FF2B5EF4-FFF2-40B4-BE49-F238E27FC236}">
                  <a16:creationId xmlns:a16="http://schemas.microsoft.com/office/drawing/2014/main" id="{990B093C-3945-84AD-449D-312E899ED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358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it-IT" sz="2400" b="0" dirty="0">
                  <a:solidFill>
                    <a:schemeClr val="bg2"/>
                  </a:solidFill>
                </a:rPr>
                <a:t>=</a:t>
              </a:r>
            </a:p>
          </p:txBody>
        </p:sp>
        <p:sp>
          <p:nvSpPr>
            <p:cNvPr id="54" name="Text Box 45">
              <a:extLst>
                <a:ext uri="{FF2B5EF4-FFF2-40B4-BE49-F238E27FC236}">
                  <a16:creationId xmlns:a16="http://schemas.microsoft.com/office/drawing/2014/main" id="{20CA31CA-9A69-42F9-4301-7CCCCCB34D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686"/>
              <a:ext cx="67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it-IT" sz="1600" dirty="0">
                  <a:solidFill>
                    <a:srgbClr val="0070C0"/>
                  </a:solidFill>
                </a:rPr>
                <a:t>COSTO</a:t>
              </a:r>
            </a:p>
            <a:p>
              <a:pPr algn="l"/>
              <a:r>
                <a:rPr lang="en-US" altLang="it-IT" sz="1600" dirty="0">
                  <a:solidFill>
                    <a:srgbClr val="0070C0"/>
                  </a:solidFill>
                </a:rPr>
                <a:t>PIENO</a:t>
              </a:r>
            </a:p>
          </p:txBody>
        </p:sp>
        <p:sp>
          <p:nvSpPr>
            <p:cNvPr id="55" name="AutoShape 34">
              <a:extLst>
                <a:ext uri="{FF2B5EF4-FFF2-40B4-BE49-F238E27FC236}">
                  <a16:creationId xmlns:a16="http://schemas.microsoft.com/office/drawing/2014/main" id="{0A0FAC64-A487-9429-4BF3-FAE3D05F7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973"/>
              <a:ext cx="96" cy="3070"/>
            </a:xfrm>
            <a:prstGeom prst="rightBrace">
              <a:avLst>
                <a:gd name="adj1" fmla="val 266493"/>
                <a:gd name="adj2" fmla="val 49218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/>
            </a:p>
          </p:txBody>
        </p:sp>
      </p:grpSp>
      <p:grpSp>
        <p:nvGrpSpPr>
          <p:cNvPr id="56" name="Group 56">
            <a:extLst>
              <a:ext uri="{FF2B5EF4-FFF2-40B4-BE49-F238E27FC236}">
                <a16:creationId xmlns:a16="http://schemas.microsoft.com/office/drawing/2014/main" id="{75319CE6-DA06-76F8-58C6-BFE1C3586967}"/>
              </a:ext>
            </a:extLst>
          </p:cNvPr>
          <p:cNvGrpSpPr>
            <a:grpSpLocks/>
          </p:cNvGrpSpPr>
          <p:nvPr/>
        </p:nvGrpSpPr>
        <p:grpSpPr bwMode="auto">
          <a:xfrm>
            <a:off x="4033838" y="1333500"/>
            <a:ext cx="4533901" cy="4876800"/>
            <a:chOff x="1848" y="966"/>
            <a:chExt cx="2856" cy="3072"/>
          </a:xfrm>
        </p:grpSpPr>
        <p:sp>
          <p:nvSpPr>
            <p:cNvPr id="57" name="AutoShape 14">
              <a:extLst>
                <a:ext uri="{FF2B5EF4-FFF2-40B4-BE49-F238E27FC236}">
                  <a16:creationId xmlns:a16="http://schemas.microsoft.com/office/drawing/2014/main" id="{84189142-C848-A76B-5B0D-B5AFFA3B2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1734"/>
              <a:ext cx="144" cy="768"/>
            </a:xfrm>
            <a:prstGeom prst="rightBrace">
              <a:avLst>
                <a:gd name="adj1" fmla="val 44444"/>
                <a:gd name="adj2" fmla="val 50000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 dirty="0"/>
            </a:p>
          </p:txBody>
        </p:sp>
        <p:sp>
          <p:nvSpPr>
            <p:cNvPr id="58" name="Rectangle 23">
              <a:extLst>
                <a:ext uri="{FF2B5EF4-FFF2-40B4-BE49-F238E27FC236}">
                  <a16:creationId xmlns:a16="http://schemas.microsoft.com/office/drawing/2014/main" id="{8A358106-0B8E-B726-3263-AFED6C353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966"/>
              <a:ext cx="528" cy="38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/>
            </a:p>
          </p:txBody>
        </p:sp>
        <p:sp>
          <p:nvSpPr>
            <p:cNvPr id="59" name="Rectangle 24" descr="Light vertical">
              <a:extLst>
                <a:ext uri="{FF2B5EF4-FFF2-40B4-BE49-F238E27FC236}">
                  <a16:creationId xmlns:a16="http://schemas.microsoft.com/office/drawing/2014/main" id="{FF080A68-732C-FD80-79C1-DA5240E73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50"/>
              <a:ext cx="528" cy="384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 dirty="0"/>
            </a:p>
          </p:txBody>
        </p:sp>
        <p:sp>
          <p:nvSpPr>
            <p:cNvPr id="60" name="Rectangle 25">
              <a:extLst>
                <a:ext uri="{FF2B5EF4-FFF2-40B4-BE49-F238E27FC236}">
                  <a16:creationId xmlns:a16="http://schemas.microsoft.com/office/drawing/2014/main" id="{CB6EA511-47CE-B922-318F-682FA8CA1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34"/>
              <a:ext cx="528" cy="38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 dirty="0"/>
            </a:p>
          </p:txBody>
        </p:sp>
        <p:sp>
          <p:nvSpPr>
            <p:cNvPr id="61" name="Text Box 26">
              <a:extLst>
                <a:ext uri="{FF2B5EF4-FFF2-40B4-BE49-F238E27FC236}">
                  <a16:creationId xmlns:a16="http://schemas.microsoft.com/office/drawing/2014/main" id="{624440AA-4761-6E21-DA49-698CCA399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974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it-IT" sz="2400" b="0" dirty="0">
                  <a:solidFill>
                    <a:schemeClr val="bg2"/>
                  </a:solidFill>
                </a:rPr>
                <a:t>=</a:t>
              </a:r>
            </a:p>
          </p:txBody>
        </p:sp>
        <p:sp>
          <p:nvSpPr>
            <p:cNvPr id="62" name="Text Box 27">
              <a:extLst>
                <a:ext uri="{FF2B5EF4-FFF2-40B4-BE49-F238E27FC236}">
                  <a16:creationId xmlns:a16="http://schemas.microsoft.com/office/drawing/2014/main" id="{73677ACE-5727-AB3B-26AC-5049943ADD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4" y="1110"/>
              <a:ext cx="98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it-IT" sz="1600" dirty="0" err="1">
                  <a:solidFill>
                    <a:srgbClr val="0070C0"/>
                  </a:solidFill>
                </a:rPr>
                <a:t>Costo</a:t>
              </a:r>
              <a:r>
                <a:rPr lang="en-US" altLang="it-IT" sz="1600" dirty="0">
                  <a:solidFill>
                    <a:srgbClr val="0070C0"/>
                  </a:solidFill>
                </a:rPr>
                <a:t> </a:t>
              </a:r>
              <a:r>
                <a:rPr lang="en-US" altLang="it-IT" sz="1600" dirty="0" err="1">
                  <a:solidFill>
                    <a:srgbClr val="0070C0"/>
                  </a:solidFill>
                </a:rPr>
                <a:t>pieno</a:t>
              </a:r>
              <a:r>
                <a:rPr lang="en-US" altLang="it-IT" sz="1600" dirty="0">
                  <a:solidFill>
                    <a:srgbClr val="0070C0"/>
                  </a:solidFill>
                </a:rPr>
                <a:t> di </a:t>
              </a:r>
              <a:r>
                <a:rPr lang="en-US" altLang="it-IT" sz="1600" dirty="0" err="1">
                  <a:solidFill>
                    <a:srgbClr val="0070C0"/>
                  </a:solidFill>
                </a:rPr>
                <a:t>produzione</a:t>
              </a:r>
              <a:endParaRPr lang="en-US" altLang="it-IT" sz="1600" dirty="0">
                <a:solidFill>
                  <a:srgbClr val="0070C0"/>
                </a:solidFill>
              </a:endParaRPr>
            </a:p>
            <a:p>
              <a:pPr algn="l"/>
              <a:r>
                <a:rPr lang="en-US" altLang="it-IT" sz="1600" b="0" dirty="0">
                  <a:solidFill>
                    <a:srgbClr val="0070C0"/>
                  </a:solidFill>
                </a:rPr>
                <a:t>(</a:t>
              </a:r>
              <a:r>
                <a:rPr lang="en-US" altLang="it-IT" sz="1600" u="sng" dirty="0" err="1">
                  <a:solidFill>
                    <a:srgbClr val="0070C0"/>
                  </a:solidFill>
                </a:rPr>
                <a:t>costi</a:t>
              </a:r>
              <a:endParaRPr lang="en-US" altLang="it-IT" sz="1600" u="sng" dirty="0">
                <a:solidFill>
                  <a:srgbClr val="0070C0"/>
                </a:solidFill>
              </a:endParaRPr>
            </a:p>
            <a:p>
              <a:pPr algn="l"/>
              <a:r>
                <a:rPr lang="en-US" altLang="it-IT" sz="1600" u="sng" dirty="0" err="1">
                  <a:solidFill>
                    <a:srgbClr val="0070C0"/>
                  </a:solidFill>
                </a:rPr>
                <a:t>inventariabili</a:t>
              </a:r>
              <a:r>
                <a:rPr lang="en-US" altLang="it-IT" sz="1600" b="0" dirty="0">
                  <a:solidFill>
                    <a:srgbClr val="0070C0"/>
                  </a:solidFill>
                </a:rPr>
                <a:t>)</a:t>
              </a:r>
            </a:p>
          </p:txBody>
        </p:sp>
        <p:sp>
          <p:nvSpPr>
            <p:cNvPr id="63" name="Rectangle 30">
              <a:extLst>
                <a:ext uri="{FF2B5EF4-FFF2-40B4-BE49-F238E27FC236}">
                  <a16:creationId xmlns:a16="http://schemas.microsoft.com/office/drawing/2014/main" id="{82B403A1-B571-8D31-C7CD-5E5C8F038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886"/>
              <a:ext cx="528" cy="384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 dirty="0"/>
            </a:p>
          </p:txBody>
        </p:sp>
        <p:sp>
          <p:nvSpPr>
            <p:cNvPr id="64" name="Text Box 31">
              <a:extLst>
                <a:ext uri="{FF2B5EF4-FFF2-40B4-BE49-F238E27FC236}">
                  <a16:creationId xmlns:a16="http://schemas.microsoft.com/office/drawing/2014/main" id="{B0685B99-800C-8696-2312-E7B13A28A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2358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it-IT" sz="2400" b="0" dirty="0">
                  <a:solidFill>
                    <a:schemeClr val="bg2"/>
                  </a:solidFill>
                </a:rPr>
                <a:t>+</a:t>
              </a:r>
            </a:p>
          </p:txBody>
        </p:sp>
        <p:sp>
          <p:nvSpPr>
            <p:cNvPr id="65" name="Text Box 32">
              <a:extLst>
                <a:ext uri="{FF2B5EF4-FFF2-40B4-BE49-F238E27FC236}">
                  <a16:creationId xmlns:a16="http://schemas.microsoft.com/office/drawing/2014/main" id="{9DC1F95B-4A7E-76EB-9E1A-623BFB9B4C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838"/>
              <a:ext cx="76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it-IT" sz="1600" b="0" dirty="0" err="1">
                  <a:solidFill>
                    <a:srgbClr val="0070C0"/>
                  </a:solidFill>
                </a:rPr>
                <a:t>Costi</a:t>
              </a:r>
              <a:endParaRPr lang="en-US" altLang="it-IT" sz="1600" b="0" dirty="0">
                <a:solidFill>
                  <a:srgbClr val="0070C0"/>
                </a:solidFill>
              </a:endParaRPr>
            </a:p>
            <a:p>
              <a:pPr algn="l"/>
              <a:r>
                <a:rPr lang="en-US" altLang="it-IT" sz="1600" b="0" dirty="0" err="1">
                  <a:solidFill>
                    <a:srgbClr val="0070C0"/>
                  </a:solidFill>
                </a:rPr>
                <a:t>commerciali</a:t>
              </a:r>
              <a:endParaRPr lang="en-US" altLang="it-IT" sz="1600" b="0" dirty="0">
                <a:solidFill>
                  <a:srgbClr val="0070C0"/>
                </a:solidFill>
              </a:endParaRPr>
            </a:p>
          </p:txBody>
        </p:sp>
        <p:sp>
          <p:nvSpPr>
            <p:cNvPr id="66" name="Rectangle 35">
              <a:extLst>
                <a:ext uri="{FF2B5EF4-FFF2-40B4-BE49-F238E27FC236}">
                  <a16:creationId xmlns:a16="http://schemas.microsoft.com/office/drawing/2014/main" id="{FC0ABB47-910D-A5DB-0AF3-C5EA5464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654"/>
              <a:ext cx="528" cy="384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 dirty="0"/>
            </a:p>
          </p:txBody>
        </p:sp>
        <p:sp>
          <p:nvSpPr>
            <p:cNvPr id="67" name="Text Box 36">
              <a:extLst>
                <a:ext uri="{FF2B5EF4-FFF2-40B4-BE49-F238E27FC236}">
                  <a16:creationId xmlns:a16="http://schemas.microsoft.com/office/drawing/2014/main" id="{BBAEB4AF-6C39-BE2A-932C-576010111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3318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it-IT" sz="2400" b="0" dirty="0">
                  <a:solidFill>
                    <a:schemeClr val="bg2"/>
                  </a:solidFill>
                </a:rPr>
                <a:t>+</a:t>
              </a:r>
            </a:p>
          </p:txBody>
        </p:sp>
        <p:sp>
          <p:nvSpPr>
            <p:cNvPr id="68" name="Text Box 37">
              <a:extLst>
                <a:ext uri="{FF2B5EF4-FFF2-40B4-BE49-F238E27FC236}">
                  <a16:creationId xmlns:a16="http://schemas.microsoft.com/office/drawing/2014/main" id="{DB20F115-4131-BB2E-19A7-1F066AF4CB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3606"/>
              <a:ext cx="96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it-IT" sz="1600" b="0" dirty="0" err="1">
                  <a:solidFill>
                    <a:srgbClr val="0070C0"/>
                  </a:solidFill>
                </a:rPr>
                <a:t>Costi</a:t>
              </a:r>
              <a:r>
                <a:rPr lang="en-US" altLang="it-IT" sz="1600" b="0" dirty="0">
                  <a:solidFill>
                    <a:srgbClr val="0070C0"/>
                  </a:solidFill>
                </a:rPr>
                <a:t> </a:t>
              </a:r>
              <a:r>
                <a:rPr lang="en-US" altLang="it-IT" sz="1600" b="0" dirty="0" err="1">
                  <a:solidFill>
                    <a:srgbClr val="0070C0"/>
                  </a:solidFill>
                </a:rPr>
                <a:t>generali</a:t>
              </a:r>
              <a:r>
                <a:rPr lang="en-US" altLang="it-IT" sz="1600" b="0" dirty="0">
                  <a:solidFill>
                    <a:srgbClr val="0070C0"/>
                  </a:solidFill>
                </a:rPr>
                <a:t> e </a:t>
              </a:r>
              <a:r>
                <a:rPr lang="en-US" altLang="it-IT" sz="1600" b="0" dirty="0" err="1">
                  <a:solidFill>
                    <a:srgbClr val="0070C0"/>
                  </a:solidFill>
                </a:rPr>
                <a:t>amministrativi</a:t>
              </a:r>
              <a:endParaRPr lang="en-US" altLang="it-IT" sz="1600" b="0" dirty="0">
                <a:solidFill>
                  <a:srgbClr val="0070C0"/>
                </a:solidFill>
              </a:endParaRPr>
            </a:p>
          </p:txBody>
        </p:sp>
        <p:sp>
          <p:nvSpPr>
            <p:cNvPr id="69" name="AutoShape 48">
              <a:extLst>
                <a:ext uri="{FF2B5EF4-FFF2-40B4-BE49-F238E27FC236}">
                  <a16:creationId xmlns:a16="http://schemas.microsoft.com/office/drawing/2014/main" id="{5911270C-3BAC-B5E3-51D9-466FA1BA0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8" y="2911"/>
              <a:ext cx="125" cy="1127"/>
            </a:xfrm>
            <a:prstGeom prst="leftBrace">
              <a:avLst>
                <a:gd name="adj1" fmla="val 75133"/>
                <a:gd name="adj2" fmla="val 50000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it-IT" altLang="it-IT"/>
            </a:p>
          </p:txBody>
        </p:sp>
        <p:sp>
          <p:nvSpPr>
            <p:cNvPr id="70" name="Text Box 49">
              <a:extLst>
                <a:ext uri="{FF2B5EF4-FFF2-40B4-BE49-F238E27FC236}">
                  <a16:creationId xmlns:a16="http://schemas.microsoft.com/office/drawing/2014/main" id="{107D69CC-A44D-BD5E-63C5-3319B7A2E6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8" y="3369"/>
              <a:ext cx="9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it-IT" altLang="it-IT" sz="1600" dirty="0">
                  <a:solidFill>
                    <a:srgbClr val="0070C0"/>
                  </a:solidFill>
                </a:rPr>
                <a:t>Costi di periodo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784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1695</TotalTime>
  <Words>42</Words>
  <Application>Microsoft Macintosh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Michele Mazza - michele.mazza6@studio.unibo.it</dc:creator>
  <cp:lastModifiedBy>Michele Mazza - michele.mazza6@studio.unibo.it</cp:lastModifiedBy>
  <cp:revision>1</cp:revision>
  <dcterms:created xsi:type="dcterms:W3CDTF">2023-12-31T15:27:49Z</dcterms:created>
  <dcterms:modified xsi:type="dcterms:W3CDTF">2024-01-01T19:43:28Z</dcterms:modified>
</cp:coreProperties>
</file>